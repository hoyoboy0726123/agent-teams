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GitHub Stars</c:v>
                </c:pt>
              </c:strCache>
            </c:strRef>
          </c:tx>
          <c:spPr>
            <a:solidFill>
              <a:srgbClr val="6366F1"/>
            </a:solidFill>
            <a:ln w="38100" cap="flat">
              <a:solidFill>
                <a:srgbClr val="6366F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Microsoft JhengHe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6366F1"/>
              </a:solidFill>
              <a:ln w="9525" cap="flat">
                <a:solidFill>
                  <a:srgbClr val="6366F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Month 1</c:v>
                  </c:pt>
                  <c:pt idx="1">
                    <c:v>Month 2</c:v>
                  </c:pt>
                  <c:pt idx="2">
                    <c:v>Month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200</c:v>
                </c:pt>
                <c:pt idx="1">
                  <c:v>550</c:v>
                </c:pt>
                <c:pt idx="2">
                  <c:v>1000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Discord 成員</c:v>
                </c:pt>
              </c:strCache>
            </c:strRef>
          </c:tx>
          <c:spPr>
            <a:solidFill>
              <a:srgbClr val="10B981"/>
            </a:solidFill>
            <a:ln w="38100" cap="flat">
              <a:solidFill>
                <a:srgbClr val="10B98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Microsoft JhengHe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10B981"/>
              </a:solidFill>
              <a:ln w="9525" cap="flat">
                <a:solidFill>
                  <a:srgbClr val="10B98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Month 1</c:v>
                  </c:pt>
                  <c:pt idx="1">
                    <c:v>Month 2</c:v>
                  </c:pt>
                  <c:pt idx="2">
                    <c:v>Month 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100</c:v>
                </c:pt>
                <c:pt idx="1">
                  <c:v>280</c:v>
                </c:pt>
                <c:pt idx="2">
                  <c:v>500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貢獻者數</c:v>
                </c:pt>
              </c:strCache>
            </c:strRef>
          </c:tx>
          <c:spPr>
            <a:solidFill>
              <a:srgbClr val="F59E0B"/>
            </a:solidFill>
            <a:ln w="38100" cap="flat">
              <a:solidFill>
                <a:srgbClr val="F59E0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Microsoft JhengHe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Month 1</c:v>
                  </c:pt>
                  <c:pt idx="1">
                    <c:v>Month 2</c:v>
                  </c:pt>
                  <c:pt idx="2">
                    <c:v>Month 3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5</c:v>
                </c:pt>
                <c:pt idx="1">
                  <c:v>14</c:v>
                </c:pt>
                <c:pt idx="2">
                  <c:v>25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活躍自架實例</c:v>
                </c:pt>
              </c:strCache>
            </c:strRef>
          </c:tx>
          <c:spPr>
            <a:solidFill>
              <a:srgbClr val="EF4444"/>
            </a:solidFill>
            <a:ln w="38100" cap="flat">
              <a:solidFill>
                <a:srgbClr val="EF444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Microsoft JhengHe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EF4444"/>
              </a:solidFill>
              <a:ln w="9525" cap="flat">
                <a:solidFill>
                  <a:srgbClr val="EF444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Month 1</c:v>
                  </c:pt>
                  <c:pt idx="1">
                    <c:v>Month 2</c:v>
                  </c:pt>
                  <c:pt idx="2">
                    <c:v>Month 3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20</c:v>
                </c:pt>
                <c:pt idx="1">
                  <c:v>70</c:v>
                </c:pt>
                <c:pt idx="2">
                  <c:v>150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Microsoft Jheng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Microsoft Jheng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8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Microsoft Jheng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latin typeface="Microsoft JhengHei"/>
              <a:cs typeface="Microsoft Jheng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資源分配佔比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6366F1"/>
              </a:solidFill>
              <a:effectLst/>
            </c:spPr>
          </c:dPt>
          <c:dPt>
            <c:idx val="1"/>
            <c:bubble3D val="0"/>
            <c:spPr>
              <a:solidFill>
                <a:srgbClr val="10B981"/>
              </a:solidFill>
              <a:effectLst/>
            </c:spPr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Microsoft JhengHe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Microsoft JhengHe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Microsoft JhengHe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Segment A 獨立開發者/新創</c:v>
                </c:pt>
                <c:pt idx="1">
                  <c:v>Segment B Agency</c:v>
                </c:pt>
                <c:pt idx="2">
                  <c:v>Segment C 企業 IT/RPA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60</c:v>
                </c:pt>
                <c:pt idx="1">
                  <c:v>25</c:v>
                </c:pt>
                <c:pt idx="2">
                  <c:v>15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latin typeface="Microsoft JhengHei"/>
              <a:cs typeface="Microsoft Jheng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API 計量估算成本</c:v>
                </c:pt>
              </c:strCache>
            </c:strRef>
          </c:tx>
          <c:spPr>
            <a:solidFill>
              <a:srgbClr val="6366F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Microsoft Jheng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輕量用戶(Segment A)</c:v>
                  </c:pt>
                  <c:pt idx="1">
                    <c:v>重度用戶(Segment B Agency)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29.7</c:v>
                </c:pt>
                <c:pt idx="1">
                  <c:v>95.04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訂閱制費用(市價中位數)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Microsoft Jheng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輕量用戶(Segment A)</c:v>
                  </c:pt>
                  <c:pt idx="1">
                    <c:v>重度用戶(Segment B Agency)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20</c:v>
                </c:pt>
                <c:pt idx="1">
                  <c:v>150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Microsoft Jheng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Microsoft Jheng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8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Microsoft Jheng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latin typeface="Microsoft JhengHei"/>
              <a:cs typeface="Microsoft Jheng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E6E8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 Teams 開源版 — 90天上市規劃 Dashboard(規劃假設,非實測)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10545775" cy="164592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 Teams 開源版 — 90天上市規劃 Dashboard(規劃假設,非實測)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886200"/>
            <a:ext cx="10545775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C7D2F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⚠️ 所有KPI數字、成長曲線、Segment佔比與成本比較均為規劃假設(9/22),非實測/非官方數據,發布對外前需依討論結論校正:(1) 成本模型的70/30 input/output比例為假設,訂閱制費用取市價區間佔位(輕量$20單一數字;重度$100-200取中位數$150,已用calc驗證=150);(2) 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KPI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354580"/>
            <a:ext cx="2567864" cy="2743200"/>
          </a:xfrm>
          <a:prstGeom prst="roundRect">
            <a:avLst>
              <a:gd name="adj" fmla="val 4273"/>
            </a:avLst>
          </a:prstGeom>
          <a:solidFill>
            <a:srgbClr val="F7F8FB"/>
          </a:solidFill>
          <a:ln w="12700">
            <a:solidFill>
              <a:srgbClr val="E6E8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2583180"/>
            <a:ext cx="64008" cy="22860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537460"/>
            <a:ext cx="2110664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90天 GitHub Stars 目標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223260"/>
            <a:ext cx="2110664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1,000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4366260"/>
            <a:ext cx="211066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規劃假設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90824" y="2354580"/>
            <a:ext cx="2567864" cy="2743200"/>
          </a:xfrm>
          <a:prstGeom prst="roundRect">
            <a:avLst>
              <a:gd name="adj" fmla="val 4273"/>
            </a:avLst>
          </a:prstGeom>
          <a:solidFill>
            <a:srgbClr val="F7F8FB"/>
          </a:solidFill>
          <a:ln w="12700">
            <a:solidFill>
              <a:srgbClr val="E6E8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90824" y="2583180"/>
            <a:ext cx="64008" cy="2286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65144" y="2537460"/>
            <a:ext cx="2110664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活躍自架實例數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65144" y="3223260"/>
            <a:ext cx="2110664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150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3665144" y="4366260"/>
            <a:ext cx="211066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規劃假設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33008" y="2354580"/>
            <a:ext cx="2567864" cy="2743200"/>
          </a:xfrm>
          <a:prstGeom prst="roundRect">
            <a:avLst>
              <a:gd name="adj" fmla="val 4273"/>
            </a:avLst>
          </a:prstGeom>
          <a:solidFill>
            <a:srgbClr val="F7F8FB"/>
          </a:solidFill>
          <a:ln w="12700">
            <a:solidFill>
              <a:srgbClr val="E6E8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33008" y="2583180"/>
            <a:ext cx="64008" cy="2286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07328" y="2537460"/>
            <a:ext cx="2110664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Discord/社群成員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07328" y="3223260"/>
            <a:ext cx="2110664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500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6507328" y="4366260"/>
            <a:ext cx="211066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規劃假設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075191" y="2354580"/>
            <a:ext cx="2567864" cy="2743200"/>
          </a:xfrm>
          <a:prstGeom prst="roundRect">
            <a:avLst>
              <a:gd name="adj" fmla="val 4273"/>
            </a:avLst>
          </a:prstGeom>
          <a:solidFill>
            <a:srgbClr val="F7F8FB"/>
          </a:solidFill>
          <a:ln w="12700">
            <a:solidFill>
              <a:srgbClr val="E6E8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75191" y="2583180"/>
            <a:ext cx="64008" cy="22860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49511" y="2537460"/>
            <a:ext cx="2110664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貢獻者數(PR merged ≥1)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349511" y="3223260"/>
            <a:ext cx="2110664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9349511" y="4366260"/>
            <a:ext cx="211066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規劃假設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每月成長目標(累積值,規劃假設)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731520" y="1280160"/>
          <a:ext cx="10728655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三大用戶 Segment 優先度佔比(規劃假設,依 Week7-10 冷啟動資源分配)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731520" y="1280160"/>
          <a:ext cx="10728655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訂閱制 vs API 計量成本比較(月成本估算,USD,情境假設)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731520" y="1280160"/>
          <a:ext cx="10728655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 Teams 開源版 — 90天上市規劃 Dashboard(規劃假設,非實測)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280160"/>
          <a:ext cx="10820095" cy="914400"/>
        </p:xfrm>
        <a:graphic>
          <a:graphicData uri="http://schemas.openxmlformats.org/drawingml/2006/table">
            <a:tbl>
              <a:tblPr/>
              <a:tblGrid>
                <a:gridCol w="1563602"/>
                <a:gridCol w="1043409"/>
                <a:gridCol w="3936617"/>
                <a:gridCol w="2171501"/>
                <a:gridCol w="2104965"/>
              </a:tblGrid>
              <a:tr h="425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階段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時間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核心里程碑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Owner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狀態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1316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排雷+零門檻Demo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Week 1-2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關閉阻斷性問題1(訂閱ToS/rate limit實測)、問題2(B最小付費方案);docker-compose零key Demo;安全模型文件初稿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@hoyo指定執行人 / 技術團隊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⚠️ 進行中,Deadline 9/25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內部驗證+素材補強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Week 3-6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Dogfooding重跑訂閱vs API成本;內部工作稿→視問題1結果轉對外正式版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@analyst / @writer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待Week1-2結果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</a:tr>
              <a:tr h="10195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冷啟動+B最小商業化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Week 7-10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GitHub/技術社群發布(主打SegmentA);B segment waitlist/客製合約上線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@lead / 業務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未開始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195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觀察與調整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Week 11-13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追蹤star/留存/首次成功跑通demo比例;視B waitlist反饋決定是否加碼多租戶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@lead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未開始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Agent Teams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Teams 開源版 — 90天上市規劃 Dashboard(規劃假設,非實測)</dc:title>
  <dc:subject>PptxGenJS Presentation</dc:subject>
  <dc:creator>PptxGenJS</dc:creator>
  <cp:lastModifiedBy>PptxGenJS</cp:lastModifiedBy>
  <cp:revision>1</cp:revision>
  <dcterms:created xsi:type="dcterms:W3CDTF">2026-09-22T17:30:14Z</dcterms:created>
  <dcterms:modified xsi:type="dcterms:W3CDTF">2026-09-22T17:30:14Z</dcterms:modified>
</cp:coreProperties>
</file>