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月1貢獻毛利</c:v>
                </c:pt>
              </c:strCache>
            </c:strRef>
          </c:tx>
          <c:spPr>
            <a:solidFill>
              <a:srgbClr val="6366F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Microsoft Jheng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599方案</c:v>
                  </c:pt>
                  <c:pt idx="1">
                    <c:v>899方案</c:v>
                  </c:pt>
                  <c:pt idx="2">
                    <c:v>1499方案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330.1</c:v>
                </c:pt>
                <c:pt idx="1">
                  <c:v>474.4</c:v>
                </c:pt>
                <c:pt idx="2">
                  <c:v>453.1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月2起貢獻毛利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Microsoft Jheng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599方案</c:v>
                  </c:pt>
                  <c:pt idx="1">
                    <c:v>899方案</c:v>
                  </c:pt>
                  <c:pt idx="2">
                    <c:v>1499方案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330.1</c:v>
                </c:pt>
                <c:pt idx="1">
                  <c:v>474.4</c:v>
                </c:pt>
                <c:pt idx="2">
                  <c:v>753.1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Microsoft Jheng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Microsoft Jheng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6E8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Microsoft Jheng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latin typeface="Microsoft JhengHei"/>
              <a:cs typeface="Microsoft JhengHe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毛利率</c:v>
                </c:pt>
              </c:strCache>
            </c:strRef>
          </c:tx>
          <c:spPr>
            <a:solidFill>
              <a:srgbClr val="6366F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Microsoft Jheng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366F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599方案</c:v>
                  </c:pt>
                  <c:pt idx="1">
                    <c:v>899方案</c:v>
                  </c:pt>
                  <c:pt idx="2">
                    <c:v>1499方案月1</c:v>
                  </c:pt>
                  <c:pt idx="3">
                    <c:v>1499方案月2起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55.1</c:v>
                </c:pt>
                <c:pt idx="1">
                  <c:v>52.8</c:v>
                </c:pt>
                <c:pt idx="2">
                  <c:v>30.2</c:v>
                </c:pt>
                <c:pt idx="3">
                  <c:v>50.2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Microsoft Jheng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Microsoft Jheng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6E8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Microsoft Jheng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占比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6366F1"/>
              </a:solidFill>
              <a:effectLst/>
            </c:spPr>
          </c:dPt>
          <c:dPt>
            <c:idx val="1"/>
            <c:bubble3D val="0"/>
            <c:spPr>
              <a:solidFill>
                <a:srgbClr val="10B981"/>
              </a:solidFill>
              <a:effectLst/>
            </c:spPr>
          </c:dPt>
          <c:dPt>
            <c:idx val="2"/>
            <c:bubble3D val="0"/>
            <c:spPr>
              <a:solidFill>
                <a:srgbClr val="F59E0B"/>
              </a:solidFill>
              <a:effectLst/>
            </c:spPr>
          </c:dPt>
          <c:dPt>
            <c:idx val="3"/>
            <c:bubble3D val="0"/>
            <c:spPr>
              <a:solidFill>
                <a:srgbClr val="EF4444"/>
              </a:solidFill>
              <a:effectLst/>
            </c:spPr>
          </c:dPt>
          <c:dPt>
            <c:idx val="4"/>
            <c:bubble3D val="0"/>
            <c:spPr>
              <a:solidFill>
                <a:srgbClr val="0EA5E9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00000"/>
                      </a:solidFill>
                      <a:latin typeface="Microsoft JhengHe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00000"/>
                      </a:solidFill>
                      <a:latin typeface="Microsoft JhengHe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00000"/>
                      </a:solidFill>
                      <a:latin typeface="Microsoft JhengHe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00000"/>
                      </a:solidFill>
                      <a:latin typeface="Microsoft JhengHe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00000"/>
                      </a:solidFill>
                      <a:latin typeface="Microsoft JhengHe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豆成本</c:v>
                </c:pt>
                <c:pt idx="1">
                  <c:v>包材</c:v>
                </c:pt>
                <c:pt idx="2">
                  <c:v>運費</c:v>
                </c:pt>
                <c:pt idx="3">
                  <c:v>金流手續費</c:v>
                </c:pt>
                <c:pt idx="4">
                  <c:v>貢獻毛利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294.8</c:v>
                </c:pt>
                <c:pt idx="1">
                  <c:v>25</c:v>
                </c:pt>
                <c:pt idx="2">
                  <c:v>80</c:v>
                </c:pt>
                <c:pt idx="3">
                  <c:v>24.7</c:v>
                </c:pt>
                <c:pt idx="4">
                  <c:v>474.4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latin typeface="Microsoft JhengHei"/>
              <a:cs typeface="Microsoft JhengHe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E6E8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晨光咖啡訂閱 - 三方案單位經濟與CAC可行性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03120"/>
            <a:ext cx="10545775" cy="1645920"/>
          </a:xfrm>
          <a:prstGeom prst="rect">
            <a:avLst/>
          </a:prstGeom>
          <a:noFill/>
          <a:ln/>
        </p:spPr>
        <p:txBody>
          <a:bodyPr wrap="square" rtlCol="0" anchor="b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晨光咖啡訂閱 - 三方案單位經濟與CAC可行性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3886200"/>
            <a:ext cx="10545775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C7D2F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⚠️假設:熟豆躉售價650元/kg、包材25/35元、每單運費80元、金流手續費2.75%、1499方案手沖工具300元為首月一次性成本(非每月COGS)。留存率70%/月(⚠️需驗證)換算平均訂閱月數=1/(1-0.7)=3.33個月。CAC目標≤400元取自@marketer假設。599方案LTV:CAC=2.75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KPI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94460"/>
            <a:ext cx="2567864" cy="2194560"/>
          </a:xfrm>
          <a:prstGeom prst="roundRect">
            <a:avLst>
              <a:gd name="adj" fmla="val 5000"/>
            </a:avLst>
          </a:prstGeom>
          <a:solidFill>
            <a:srgbClr val="F7F8FB"/>
          </a:solidFill>
          <a:ln w="12700">
            <a:solidFill>
              <a:srgbClr val="E6E8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623060"/>
            <a:ext cx="64008" cy="17373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577340"/>
            <a:ext cx="2110664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599方案月1毛利率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263140"/>
            <a:ext cx="2110664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F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55.1%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822960" y="2857500"/>
            <a:ext cx="2110664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健康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90824" y="1394460"/>
            <a:ext cx="2567864" cy="2194560"/>
          </a:xfrm>
          <a:prstGeom prst="roundRect">
            <a:avLst>
              <a:gd name="adj" fmla="val 5000"/>
            </a:avLst>
          </a:prstGeom>
          <a:solidFill>
            <a:srgbClr val="F7F8FB"/>
          </a:solidFill>
          <a:ln w="12700">
            <a:solidFill>
              <a:srgbClr val="E6E8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90824" y="1623060"/>
            <a:ext cx="64008" cy="1737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65144" y="1577340"/>
            <a:ext cx="2110664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899方案月1毛利率(錨點)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665144" y="2263140"/>
            <a:ext cx="2110664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F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52.8%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665144" y="2857500"/>
            <a:ext cx="2110664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健康,建議主推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33008" y="1394460"/>
            <a:ext cx="2567864" cy="2194560"/>
          </a:xfrm>
          <a:prstGeom prst="roundRect">
            <a:avLst>
              <a:gd name="adj" fmla="val 5000"/>
            </a:avLst>
          </a:prstGeom>
          <a:solidFill>
            <a:srgbClr val="F7F8FB"/>
          </a:solidFill>
          <a:ln w="12700">
            <a:solidFill>
              <a:srgbClr val="E6E8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33008" y="1623060"/>
            <a:ext cx="64008" cy="1737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07328" y="1577340"/>
            <a:ext cx="2110664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1499方案月1毛利率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507328" y="2263140"/>
            <a:ext cx="2110664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F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30.2%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507328" y="2857500"/>
            <a:ext cx="2110664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⚠️工具成本拖累,月2起回升至50.2%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075191" y="1394460"/>
            <a:ext cx="2567864" cy="2194560"/>
          </a:xfrm>
          <a:prstGeom prst="roundRect">
            <a:avLst>
              <a:gd name="adj" fmla="val 5000"/>
            </a:avLst>
          </a:prstGeom>
          <a:solidFill>
            <a:srgbClr val="F7F8FB"/>
          </a:solidFill>
          <a:ln w="12700">
            <a:solidFill>
              <a:srgbClr val="E6E8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075191" y="1623060"/>
            <a:ext cx="64008" cy="1737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49511" y="1577340"/>
            <a:ext cx="2110664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899方案LTV:CAC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349511" y="2263140"/>
            <a:ext cx="2110664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F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3.95x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9349511" y="2857500"/>
            <a:ext cx="2110664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優於3x門檻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3863340"/>
            <a:ext cx="2567864" cy="2194560"/>
          </a:xfrm>
          <a:prstGeom prst="roundRect">
            <a:avLst>
              <a:gd name="adj" fmla="val 5000"/>
            </a:avLst>
          </a:prstGeom>
          <a:solidFill>
            <a:srgbClr val="F7F8FB"/>
          </a:solidFill>
          <a:ln w="12700">
            <a:solidFill>
              <a:srgbClr val="E6E8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4091940"/>
            <a:ext cx="64008" cy="17373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4046220"/>
            <a:ext cx="2110664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599方案LTV:CAC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22960" y="4732020"/>
            <a:ext cx="2110664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F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2.75x</a:t>
            </a:r>
            <a:endParaRPr lang="en-US" sz="3600" dirty="0"/>
          </a:p>
        </p:txBody>
      </p:sp>
      <p:sp>
        <p:nvSpPr>
          <p:cNvPr id="27" name="Text 25"/>
          <p:cNvSpPr/>
          <p:nvPr/>
        </p:nvSpPr>
        <p:spPr>
          <a:xfrm>
            <a:off x="822960" y="5326380"/>
            <a:ext cx="2110664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⚠️低於3x健康門檻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3390824" y="3863340"/>
            <a:ext cx="2567864" cy="2194560"/>
          </a:xfrm>
          <a:prstGeom prst="roundRect">
            <a:avLst>
              <a:gd name="adj" fmla="val 5000"/>
            </a:avLst>
          </a:prstGeom>
          <a:solidFill>
            <a:srgbClr val="F7F8FB"/>
          </a:solidFill>
          <a:ln w="12700">
            <a:solidFill>
              <a:srgbClr val="E6E8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390824" y="4091940"/>
            <a:ext cx="64008" cy="173736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65144" y="4046220"/>
            <a:ext cx="2110664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CAC回本期(全方案)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3665144" y="4732020"/>
            <a:ext cx="2110664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F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0.84~1.21個月</a:t>
            </a:r>
            <a:endParaRPr lang="en-US" sz="3600" dirty="0"/>
          </a:p>
        </p:txBody>
      </p:sp>
      <p:sp>
        <p:nvSpPr>
          <p:cNvPr id="32" name="Text 30"/>
          <p:cNvSpPr/>
          <p:nvPr/>
        </p:nvSpPr>
        <p:spPr>
          <a:xfrm>
            <a:off x="3665144" y="5326380"/>
            <a:ext cx="2110664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均&lt;1.5個月上市目標✅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貢獻毛利比較(月1 vs 月2起)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731520" y="1280160"/>
          <a:ext cx="10728655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毛利率比較(%)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731520" y="1280160"/>
          <a:ext cx="10728655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899方案成本結構拆解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731520" y="1280160"/>
          <a:ext cx="10728655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晨光咖啡訂閱 - 三方案單位經濟與CAC可行性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280160"/>
          <a:ext cx="10820095" cy="914400"/>
        </p:xfrm>
        <a:graphic>
          <a:graphicData uri="http://schemas.openxmlformats.org/drawingml/2006/table">
            <a:tbl>
              <a:tblPr/>
              <a:tblGrid>
                <a:gridCol w="1098222"/>
                <a:gridCol w="428692"/>
                <a:gridCol w="491310"/>
                <a:gridCol w="394593"/>
                <a:gridCol w="394593"/>
                <a:gridCol w="857384"/>
                <a:gridCol w="857384"/>
                <a:gridCol w="869426"/>
                <a:gridCol w="749007"/>
                <a:gridCol w="989845"/>
                <a:gridCol w="1247542"/>
                <a:gridCol w="1127123"/>
                <a:gridCol w="1314976"/>
              </a:tblGrid>
              <a:tr h="1118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方案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售價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豆成本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包材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運費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金流(2.75%)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工具(僅首月)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貢獻毛利-月1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毛利率-月1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貢獻毛利-月2起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回本期(月,CAC400)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LTV(3.33月留存)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LTV:CAC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</a:tr>
              <a:tr h="7884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599(半磅)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599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147.4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25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80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16.5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330.1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55.1%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330.1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1.21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1100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2.75x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84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899(一磅)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899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294.8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25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80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24.7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474.4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52.8%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474.4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0.84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1581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3.95x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</a:tr>
              <a:tr h="1118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1499(兩磅+工具)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1499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589.7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35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80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41.2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300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453.1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30.2%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753.1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0.88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1510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3.78x(調整後5.53x)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Agent Teams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晨光咖啡訂閱 - 三方案單位經濟與CAC可行性</dc:title>
  <dc:subject>PptxGenJS Presentation</dc:subject>
  <dc:creator>PptxGenJS</dc:creator>
  <cp:lastModifiedBy>PptxGenJS</cp:lastModifiedBy>
  <cp:revision>1</cp:revision>
  <dcterms:created xsi:type="dcterms:W3CDTF">2026-09-23T00:38:07Z</dcterms:created>
  <dcterms:modified xsi:type="dcterms:W3CDTF">2026-09-23T00:38:07Z</dcterms:modified>
</cp:coreProperties>
</file>